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UiPath, Inc. — FY2023 Net-Retention Deceleration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Real, disclosed ARR and net retention deceleration. Flow-rate decomposition, revenue mix, and unit-economics levers are declared drivers or template defaults, not disclosed by UiPath.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As of 2023-01-31  ·  Scenario: Downside  ·  Prepared from a governed, recalculated model instance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Reading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Real, disclosed: Beginning/Ending ARR and net retention rate are UiPath's own reported figures — unlike a revenue-as-ARR-proxy case, UiPath discloses ARR directly every quarter.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Derived, not disclosed: the new-customer ARR contribution and the retained-cohort net expansion effect are both computed from two disclosed facts (net-new ARR in dollars, dollar-based net retention rate) — real arithmetic on real numbers, not an estimate.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Declared drivers: the further split into gross Expansion vs. Contraction vs. Churn is not disclosed by any issuer; two of the three are chosen (informed by this repo's own template defaults), the third carries the balancing residual so the four flow rates sum to exactly UiPath's disclosed 30% FY2023 ARR growth.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Realized outcome is real and recorded, not a forecast: net retention the following fiscal year, from UiPath's own FY2024 10-K.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 checks: Overall PASS  ·  standards/public_cases/software-public-uipath-fy2023-stress.json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DISCLOSED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ARR roll-forward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$925.3mm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Beginning 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UiPath 10-K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$1,203.9mm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Ending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UiPath 10-K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31E2B"/>
                </a:solidFill>
                <a:latin typeface="Cambria"/>
              </a:rPr>
              <a:t>123%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Net revenue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1B7A43"/>
                </a:solidFill>
                <a:latin typeface="Calibri"/>
              </a:rPr>
              <a:t>UiPath 10-K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291840"/>
          <a:ext cx="1109441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6276"/>
                <a:gridCol w="3698138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ARR growth (FY2023)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30.1%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Gross revenue retention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92.0%</a:t>
                      </a:r>
                    </a:p>
                  </a:txBody>
                  <a:tcPr>
                    <a:solidFill>
                      <a:srgbClr val="F4F6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Net revenue retention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>
                          <a:solidFill>
                            <a:srgbClr val="222733"/>
                          </a:solidFill>
                          <a:latin typeface="Calibri"/>
                        </a:rPr>
                        <a:t>123.0%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Source: UiPath, Inc. FY2023 Form 10-K (SEC EDGAR, CIK 0001734722)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REAL, COMPUTED FROM DISCLOSED DOLLARS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Revenue and cost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$1,173.2mm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Modeled 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Computed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69.8%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Blended 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Derived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A31E2B"/>
                </a:solidFill>
                <a:latin typeface="Cambria"/>
              </a:rPr>
              <a:t>66.3%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Sales &amp; marketing / 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Derived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0896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A5A00"/>
                </a:solidFill>
                <a:latin typeface="Calibri"/>
              </a:rPr>
              <a:t>UiPath's real FY2023 sales &amp; marketing ratio exceeds even this template's own Downside-scenario illustrative default (42%) — a real, disclosed inefficiency more severe than the template author's own worst-case assumption, not a modeling artifact.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Modeled total revenue uses real ARR as the scale driver (not a revenue proxy), which implies a figure roughly 10.8% above UiPath's actual disclosed GAAP revenue -- a real, measured basis gap between an ARR-native metric and GAAP recognition timing, not an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MIXED REAL / ILLUSTRATIVE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RPO and acquisition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E2761"/>
                </a:solidFill>
                <a:latin typeface="Cambria"/>
              </a:rPr>
              <a:t>84.5%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RPO coverage of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Derived (ending RPO real)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3458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0.51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Magic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371600"/>
            <a:ext cx="3484778" cy="14173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5436" y="1536192"/>
            <a:ext cx="321045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A5A00"/>
                </a:solidFill>
                <a:latin typeface="Cambria"/>
              </a:rPr>
              <a:t>23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5436" y="2121408"/>
            <a:ext cx="321045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22733"/>
                </a:solidFill>
                <a:latin typeface="Calibri"/>
              </a:rPr>
              <a:t>CAC payback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432304"/>
            <a:ext cx="321045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8A5A00"/>
                </a:solidFill>
                <a:latin typeface="Calibri"/>
              </a:rPr>
              <a:t>Illustrative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89320"/>
            <a:ext cx="11094415" cy="502920"/>
          </a:xfrm>
          <a:prstGeom prst="rect">
            <a:avLst/>
          </a:prstGeom>
          <a:solidFill>
            <a:srgbClr val="F4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8200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5A00"/>
                </a:solidFill>
                <a:latin typeface="Calibri"/>
              </a:rPr>
              <a:t>Beginning RPO is a template default (not sourced); ending-RPO coverage of revenue is real, derived from UiPath's own disclosed $894.0mm remaining performance obligations. S&amp;M efficiency metrics (magic number, CAC payback) are illustrative -- UiPath does not disclose new/expansion ARR by customer cohort at the granularity these ratios would need to be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DECISION — REAL, RECORDED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</a:rPr>
              <a:t>Realized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A31E2B"/>
                </a:solidFill>
                <a:latin typeface="Calibri"/>
              </a:rPr>
              <a:t>Naive forecast: FY2023's net retention (123%) holds flat into FY2024. Realized: 119%, from UiPath's own FY2024 10-K — the decline was not a one-off.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Net retention fell in three consecutive disclosed years: 145% -&gt; 123% -&gt; 119%, alongside a well-documented April 2023 leadership crisis (the co-CEO structure was unwound).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The real sales &amp; marketing ratio (66.3% of revenue) is worse than this template's own built-in Downside default, a genuine signal this case does not need to invent.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733"/>
                </a:solidFill>
                <a:latin typeface="Calibri"/>
              </a:rPr>
              <a:t>A real allocation decision needs UiPath's own forward guidance and cohort-level retention detail, neither of which is asserted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Model: 31_Software_SaaS/_template_SOFTWARE.xlsx  ·  Instance: 31_Software_SaaS/instances/public_uipath_fy2023_stress.xlsx  ·  Overall checks: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