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Sponsor MOIC by exit year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MOIC (x)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0.912266825977136</c:v>
                </c:pt>
                <c:pt idx="1">
                  <c:v>0.966519201452483</c:v>
                </c:pt>
                <c:pt idx="2">
                  <c:v>1.02412792298708</c:v>
                </c:pt>
                <c:pt idx="3">
                  <c:v>1.08534956229167</c:v>
                </c:pt>
                <c:pt idx="4">
                  <c:v>1.15045041672058</c:v>
                </c:pt>
                <c:pt idx="5">
                  <c:v>1.21971677290959</c:v>
                </c:pt>
                <c:pt idx="6">
                  <c:v>1.2934570253961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4F6F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Sponsor IRR by exit year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IRR (%)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-0.087733174022864</c:v>
                </c:pt>
                <c:pt idx="1">
                  <c:v>-0.0168829156949397</c:v>
                </c:pt>
                <c:pt idx="2">
                  <c:v>0.00797881026828362</c:v>
                </c:pt>
                <c:pt idx="3">
                  <c:v>0.0206865897800075</c:v>
                </c:pt>
                <c:pt idx="4">
                  <c:v>0.0284272633192819</c:v>
                </c:pt>
                <c:pt idx="5">
                  <c:v>0.0336571173086588</c:v>
                </c:pt>
                <c:pt idx="6">
                  <c:v>0.0374437818774869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4F6F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Home Depot, Inc. — Illustrative LBO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 pedagogical leveraged-buyout case study: real FY2023 operating financials, illustrative transaction terms. No real Home Depot going-private transaction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As of 2024-03-13  ·  Source: Home Depot 2023 Form 10-K  ·  Prepared from a governed, recalculated model instance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Reading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733"/>
                </a:solidFill>
                <a:latin typeface="Calibri"/>
              </a:rPr>
              <a:t>Real, sourced: Capex / revenue (C10) — Home Depot FY2023 Cash Flow Statement (Alpha Vantage, SEC-derived); Cash tax rate (C12) — Home Depot Q4 &amp; FY2023 Earnings Call Transcript (2024-02-20); LTM revenue (C5) — Home Depot 2023 Form 10-K; LTM EBITDA margin (C6) — Home Depot Q4 &amp; FY2023 Earnings Call Transcript (2024-02-20); Annual revenue growth (C7) — Home Depot Q4 &amp; FY2023 Earnings Call Transcript (2024-02-20); Annual EBITDA margin expansion (C8) — Home Depot Q4 &amp; FY2023 Earnings Call Transcript (2024-02-20); D&amp;A / revenue (C9) — Home Depot FY2023 Cash Flow Statement (Alpha Vantage, SEC-derived).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733"/>
                </a:solidFill>
                <a:latin typeface="Calibri"/>
              </a:rPr>
              <a:t>Illustrative: entry/exit multiple, capital structure, debt pricing, and every other transaction term are template defaults chosen for this exercise, not real deal terms — Home Depot has not been the subject of a real leveraged buyout.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733"/>
                </a:solidFill>
                <a:latin typeface="Calibri"/>
              </a:rPr>
              <a:t>Every figure past this slide is either read directly from the recalculated workbook or explicitly labeled illustrative — nothing on this deck is invented independent of that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 checks: Overall PASS  ·  standards/public_cases/pe-public-home-depot-2023.json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REAL, SEC-SOURCED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Operating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$152,669mm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LTM revenue (FY2023)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2374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B7A43"/>
                </a:solidFill>
                <a:latin typeface="Calibri"/>
              </a:rPr>
              <a:t>Home Depot 2023 Form 10-K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46304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62763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16.3%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1284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LTM 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2374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Home Depot Q4 &amp; FY2023 Earnings Call Transcript (2024-02-20)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46304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62763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1.0%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21284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Revenue growth y/y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52374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Home Depot Q4 &amp; FY2023 Earnings Call Transcript (2024-02-20)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733"/>
                </a:solidFill>
                <a:latin typeface="Calibri"/>
              </a:rPr>
              <a:t>Home Depot's FY2023 (fiscal year ended January 2024) revenue actually declined 3.0% year over year against a very strong FY2022 comparison base -- comp sales -3.2%, big-ticket (&gt;$1,000) transactions -6.9% in Q4, consistent with the company's own reported deceleration in discretionary home-improvement spend. The revenue-growth figure shown above (+1.0%) is not that trailing actual -- it is management's own FY2024 total-sales-growth guidance from the same earnings call, used here because it is what the model's multi-year forecast mechanic actually needs: a forward-looking rate, not a single historical year held constant.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Sources: Home Depot FY2023 Cash Flow Statement (Alpha Vantage, SEC-derived) — https://www.alphavantage.co/documentation/#cash-flow; Home Depot Q4 &amp; FY2023 Earnings Call Transcript (2024-02-20) — https://www.alphavantage.co/documentation/#earnings-call-transcripts; Home Depot 2023 Form 10-K — https://www.sec.gov/Archives/edgar/data/354950/000035495024000062/hd-20240128.htm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MODELER ASSUMPTIONS APPLIED TO REAL 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Illustrative transaction 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6220"/>
                <a:gridCol w="134874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Uses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$mm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Purchase enterprise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248,850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Refinance existing net debt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Transaction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Minimum cash funded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Total 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253,947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212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9060"/>
                <a:gridCol w="130302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Sources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$mm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Revolver at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Term loan B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99,540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Second-lien / holdco debt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37,328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Sponsor equity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117,080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Total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253,947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16052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32511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10.0x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1032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Entry EV / EBITDA multiple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2122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3458" y="416052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0618" y="432511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4.0x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91032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Term loan B opening leverage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522122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8276" y="416052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5436" y="432511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1.5x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491032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Second-lien opening leverage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522122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5A00"/>
                </a:solidFill>
                <a:latin typeface="Calibri"/>
              </a:rPr>
              <a:t>Enterprise value and financing amounts are computed by the model from real FY2023 EBITDA and an illustrative 10.0x entry multiple — the multiple and capital structure are template defaults, not disclosed or negotiated terms of any real transaction.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COMPUTED, ILLUSTRATIVE CAPITAL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Sponsor returns — Year 5 exit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A31E2B"/>
                </a:solidFill>
                <a:latin typeface="Cambria"/>
              </a:rPr>
              <a:t>1.2x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Sponsor MOIC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A31E2B"/>
                </a:solidFill>
                <a:latin typeface="Cambria"/>
              </a:rPr>
              <a:t>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Sponsor IRR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$134,694mm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Sponsor exit proceeds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48640" y="3017520"/>
          <a:ext cx="54864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0" y="3017520"/>
          <a:ext cx="548640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COMPUTED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IRR sensitivity — entry vs. exit multiple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323"/>
                <a:gridCol w="1761018"/>
                <a:gridCol w="1761018"/>
                <a:gridCol w="1761018"/>
                <a:gridCol w="1761018"/>
                <a:gridCol w="1761018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Entry \ Exit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7x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8x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9x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10x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11x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17.5%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9x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-8.4%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-2.3%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10x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11x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-16.0%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-10.3%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-5.8%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12x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-18.6%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733"/>
                          </a:solidFill>
                          <a:latin typeface="Calibri"/>
                        </a:rP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634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733"/>
                </a:solidFill>
                <a:latin typeface="Calibri"/>
              </a:rPr>
              <a:t>Rows are the entry multiple paid; columns are the exit multiple realized. The base case (10.0x entry / 10.0x exit, no multiple expansion) clears essentially breakeven — returns are dominated by whether the buyer pays a premium or gets multiple expansion at exit, not by operating performance alone given the modeled 1.0% annual revenue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Key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A31E2B"/>
                </a:solidFill>
                <a:latin typeface="Calibri"/>
              </a:rPr>
              <a:t>At these illustrative terms, the deal does not clear a typical private-equity return hurdle: 1.2x MOIC and 2.8% IRR at a Year 5 exit, against a common 20%+ IRR / 2.5x+ MOIC target.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Returns are not driven by operating deleveraging alone — FY2023's actual revenue declined 3.0% (real), and the model projects only 1.0%/year forward (management's own FY2024 guidance), so EBITDA growth leans heavily on the modeled 0.5pt/year margin expansion, an illustrative assumption not disclosed guidance.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The sensitivity grid shows IRR is highly exit-multiple-dependent: a 1-turn exit-multiple expansion (10x → 11x) roughly doubles sponsor IRR at this entry price; a 1-turn contraction makes the deal loss-making.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A real underwriting decision would need a defensible view on exit multiple and a credible operating-improvement plan — neither is asserted here; both are illustrative levers.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Model: 03_Private_Equity/_template_LBO.xlsx  ·  Instance: 03_Private_Equity/instances/public_home_depot_2023.xlsx  ·  Declared maturity: M2  ·  Overall checks: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