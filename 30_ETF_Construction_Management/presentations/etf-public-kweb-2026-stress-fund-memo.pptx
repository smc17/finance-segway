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KraneShares CSI China Internet ETF (NYSE Arca: KWEB) — Adversarial Fund Memo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Real, sourced fund profile and holdings vs. CSI Overseas China Internet Index. Creation-unit and tracking-cost terms are template defaults, not the fund's own disclosed mechanics.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 of 2026-08-17  ·  Scenario: Downside  ·  Prepared from a governed, recalculated model instance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22733"/>
                </a:solidFill>
                <a:latin typeface="Calibri"/>
              </a:rPr>
              <a:t>Real, sourced: fund net assets, net expense ratio, dividend yield, and market price are KraneShares CSI China Internet ETF's own disclosed figures (Alpha Vantage fund profile + market quote).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733"/>
                </a:solidFill>
                <a:latin typeface="Calibri"/>
              </a:rPr>
              <a:t>Real, sourced: 30 disclosed holdings by weight and 7 sector weights are the fund's own SEC Form N-CSR annual shareholder report — including a sector table that sums to 102.6%, not smoothed to 100% (a real disclosure artifact from securities-lending collateral, see validation.md Finding ETF-03).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733"/>
                </a:solidFill>
                <a:latin typeface="Calibri"/>
              </a:rPr>
              <a:t>Illustrative: creation-unit size, securities-lending revenue offset, cash-drag cost, and sampling/optimization tracking error are template defaults, not the fund's own disclosed creation/redemption mechanics or realized tracking-cost bridge.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22733"/>
                </a:solidFill>
                <a:latin typeface="Calibri"/>
              </a:rPr>
              <a:t>Realized outcome is real and recorded, not a forecast: the fund's own 5-year average annual total return through this filing's period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 checks: Overall REVIEW  ·  standards/public_cases/etf-public-kweb-2026-stress.json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SEC/ALPHA-VANTAGE-SOURCED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Fund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$6,033.6mm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Net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SEC N-CSR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0.69%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Net expense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Alpha Vantage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7.43%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Trailing dividend yield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Alpha Vantage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291840"/>
          <a:ext cx="1109441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666"/>
                <a:gridCol w="6812360"/>
                <a:gridCol w="1946388"/>
              </a:tblGrid>
              <a:tr h="241069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Holding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Issuer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TENCENT HOLDINGS LTD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10.09%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ALIBABA GROUP HOLDING LTD ORDINARY SHARES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8.79%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PDD HOLDINGS INC ADR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8.00%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MEITUAN CLASS B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7.89%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NETEASE INC ORDINARY SHARES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6.06%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JD.COM INC ORDINARY SHARES CLASS 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4.27%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YMM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FULL TRUCK ALLIANCE CO LTD ADR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KE HOLDINGS INC CLASS 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3.91%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KUAISHOU TECHNOLOGY ORDINARY SHARES CLASS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TRIP.COM GROUP LTD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3.65%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Top 10 of 30 disclosed real holdings shown; all 30 sum with the remainder to 100.0%.  ·  Source: KraneShares CSI China Internet ETF Profile (Alpha Vantage, fund-disclosed holdings/AUM/expense ratio) — https://www.alphavantage.co/documentation/#etf-profile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SEC N-CSR-SOURCED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Sector concentration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400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Sector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CONSUMER DISCRETIONARY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COMMUNICATION SERVICES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37.3%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CONSUMER STAPLES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INDUSTRIALS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REAL ESTATE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SHORT-TERM INVESTMENT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64592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A5A00"/>
                </a:solidFill>
                <a:latin typeface="Calibri"/>
              </a:rPr>
              <a:t>Sector weights sum to 102.6%, not 100% — the fund's own N-CSR disclosure, most likely reflecting securities-lending collateral counted alongside its originating sector.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Source: KraneShares CSI China Internet ETF Annual Shareholder Report (SEC Form N-CSR) — https://www.sec.gov/Archives/edgar/data/1547576/000182912626006162/kraneshares_ncsr.htm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Not corrected or smoothed to 100%: the real, disclosed number is used as-is, which correctly trips this workbook's own sector-weight-band Check to REVIEW rather than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 PRICE, ILLUSTRATIVE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Creation, redemption, and tracking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$27.01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Market price (real)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Alpha Vantage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-0.25%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Premium/(discount) to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31E2B"/>
                </a:solidFill>
                <a:latin typeface="Cambria"/>
              </a:rPr>
              <a:t>-1.26%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Est. net tracking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22733"/>
                </a:solidFill>
                <a:latin typeface="Calibri"/>
              </a:rPr>
              <a:t>Creation-unit basket value of $1.4mm at the real market price; AP arbitrage action threshold: NO -- within normal trading band.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Creation unit size, premium/discount, securities-lending offset, cash drag, and sampling error are template defaults — not this fund's own disclosed creation/redemption terms or realized tracking-difference statement.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DECISION — REAL, RECORDED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Realized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A31E2B"/>
                </a:solidFill>
                <a:latin typeface="Calibri"/>
              </a:rPr>
              <a:t>KraneShares CSI China Internet ETF's own disclosed 5-year average annual total return: -15.07%, through the fund's own N-CSR reporting period — a real, filed number, not a projection from this workbook.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The fund tracked its own reference index tightly even under this stress (KraneShares CSI China Internet ETF N-CSR annual shareholder report, period ended 2026-03-31 (fund's own disclosed Average Annual Total Returns table)) — a real sector/security outcome, not a tracking or wrapper-mechanics failure.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The sector-table disclosure gap (102.6% vs 100%) and the resulting Checks REVIEW are genuine, disclosed imperfections kept in this deck rather than smoothed over.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allocation decision needs the fund's own realized tracking-difference statement and current premium/discount, neither of which is asserted here — both remain illustrative levers.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Model: 30_ETF_Construction_Management/_template_ETF.xlsx  ·  Instance: 30_ETF_Construction_Management/instances/public_kweb_2026_stress.xlsx  ·  Overall checks: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