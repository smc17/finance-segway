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68880"/>
            <a:ext cx="1109441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mbria"/>
              </a:rPr>
              <a:t>Hertz Chapter 11 emergence financing and recovery — Restructuring Memo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70332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This case sources exactly one real fact: the disclosed exit-financing commitment. Capital structure, liquidity, and recovery mechanics are untouched template defaults for this case.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As of 2021-06-30  ·  Prepared from a governed, recalculated model instance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PROVENANCE — SPARSE BY DESIGN, NOT BY ACCIDENT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mbria"/>
              </a:rPr>
              <a:t>Reading this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94415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22733"/>
                </a:solidFill>
                <a:latin typeface="Calibri"/>
              </a:rPr>
              <a:t>Real, sourced: exactly one fact — $7,500.0mm, Hertz 2021 Form 10-K — the actual disclosed Chapter 11 exit-financing commitment.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733"/>
                </a:solidFill>
                <a:latin typeface="Calibri"/>
              </a:rPr>
              <a:t>NOT populated for this case: Recovery Waterfall (capital-structure face claims), 13-Week Liquidity (cash-flow schedule), and Liquidation-vs-Reorg (asset value / NPV bridge) remain entirely at template defaults — pre-petition capital-structure and liquidity detail were not sourced with real provenance for this case, and this deck does not manufacture that detail.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733"/>
                </a:solidFill>
                <a:latin typeface="Calibri"/>
              </a:rPr>
              <a:t>The fee, interest-rate, and tenor terms below are illustrative mechanics applied to the real commitment ceiling — not the real facility's actual disclosed pricing.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733"/>
                </a:solidFill>
                <a:latin typeface="Calibri"/>
              </a:rPr>
              <a:t>This is the same sparsity discipline this case's own manifest already enforces: better an honest single real fact than a denser deck built on invented capital-structure detail.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Model checks: Overall REVIEW  ·  standards/public_cases/distressed-public-hertz-2021-reorganization.json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REAL, DISCLOSED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mbria"/>
              </a:rPr>
              <a:t>Exit financing and outcome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5387187" cy="1417320"/>
          </a:xfrm>
          <a:prstGeom prst="rect">
            <a:avLst/>
          </a:prstGeom>
          <a:solidFill>
            <a:srgbClr val="F4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27632"/>
            <a:ext cx="5112867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Cambria"/>
              </a:rPr>
              <a:t>$7,500.0mm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212848"/>
            <a:ext cx="511286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22733"/>
                </a:solidFill>
                <a:latin typeface="Calibri"/>
              </a:rPr>
              <a:t>Exit-financing commitment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523744"/>
            <a:ext cx="51128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1B7A43"/>
                </a:solidFill>
                <a:latin typeface="Calibri"/>
              </a:rPr>
              <a:t>Form 10-K</a:t>
            </a:r>
          </a:p>
        </p:txBody>
      </p:sp>
      <p:sp>
        <p:nvSpPr>
          <p:cNvPr id="9" name="Rectangle 8"/>
          <p:cNvSpPr/>
          <p:nvPr/>
        </p:nvSpPr>
        <p:spPr>
          <a:xfrm>
            <a:off x="6255867" y="1463040"/>
            <a:ext cx="5387187" cy="1417320"/>
          </a:xfrm>
          <a:prstGeom prst="rect">
            <a:avLst/>
          </a:prstGeom>
          <a:solidFill>
            <a:srgbClr val="F4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93027" y="1627632"/>
            <a:ext cx="5112867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B7A43"/>
                </a:solidFill>
                <a:latin typeface="Cambria"/>
              </a:rPr>
              <a:t>Completed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93027" y="2212848"/>
            <a:ext cx="511286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22733"/>
                </a:solidFill>
                <a:latin typeface="Calibri"/>
              </a:rPr>
              <a:t>Chapter 11 emergence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93027" y="2523744"/>
            <a:ext cx="51128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1B7A43"/>
                </a:solidFill>
                <a:latin typeface="Calibri"/>
              </a:rPr>
              <a:t>Form 10-K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108960"/>
            <a:ext cx="11094415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222733"/>
                </a:solidFill>
                <a:latin typeface="Calibri"/>
              </a:rPr>
              <a:t>Hertz emerged from Chapter 11 with committed exit financing of $7,500.0mm — a real, disclosed, completed outcome, not a projection from this workbook's own mechanics.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Source: Hertz 2021 Form 10-K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ILLUSTRATIVE TERMS ON A REAL CEILING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mbria"/>
              </a:rPr>
              <a:t>Modeled financing mechanics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11094414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96276"/>
                <a:gridCol w="3698138"/>
              </a:tblGrid>
              <a:tr h="594360">
                <a:tc>
                  <a:txBody>
                    <a:bodyPr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Commitment ceiling (real)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$7,500.0mm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Total new-money claim at exit (illustrative terms)</a:t>
                      </a:r>
                    </a:p>
                  </a:txBody>
                  <a:tcPr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$0.0mm</a:t>
                      </a:r>
                    </a:p>
                  </a:txBody>
                  <a:tcPr>
                    <a:solidFill>
                      <a:srgbClr val="F4F6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Commitment sufficiency check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5989320"/>
            <a:ext cx="11094415" cy="502920"/>
          </a:xfrm>
          <a:prstGeom prst="rect">
            <a:avLst/>
          </a:prstGeom>
          <a:solidFill>
            <a:srgbClr val="F4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080760"/>
            <a:ext cx="1082009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5A00"/>
                </a:solidFill>
                <a:latin typeface="Calibri"/>
              </a:rPr>
              <a:t>Upfront fee, cash interest rate, tenor, and exit fee are template defaults, not this facility's actual disclosed pricing. The expected draw feeding this calculation comes from the 13-Week Liquidity sheet's own template-default cash-flow schedule, not a real liquidity forecast.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mbria"/>
              </a:rPr>
              <a:t>What a real recovery decision would still need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441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E2761"/>
                </a:solidFill>
                <a:latin typeface="Calibri"/>
              </a:rPr>
              <a:t>The only decision-grade fact this case supports today: $7,500.0mm of exit financing was real, committed, and the case completed Chapter 11 emergence.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51760"/>
            <a:ext cx="11094415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22733"/>
                </a:solidFill>
                <a:latin typeface="Calibri"/>
              </a:rPr>
              <a:t>A real capital-structure recovery view needs each tranche's actual face claim and seniority — not sourced here; Recovery Waterfall stays at template defaults for this case.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733"/>
                </a:solidFill>
                <a:latin typeface="Calibri"/>
              </a:rPr>
              <a:t>A real liquidity-runway view needs the company's actual 13-week cash-flow forecast — not sourced here.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733"/>
                </a:solidFill>
                <a:latin typeface="Calibri"/>
              </a:rPr>
              <a:t>A real liquidation-vs-reorganization NPV comparison needs actual asset values and distress-cost estimates — not sourced here.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733"/>
                </a:solidFill>
                <a:latin typeface="Calibri"/>
              </a:rPr>
              <a:t>None of these gaps are hidden inside a computed-looking number: the workbook's own Decision &amp; Checks status reflects that most checks are running on template defaults, not real inputs, for this specific case.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Model: 24_Distressed_Restructuring/_template_RESTRUCTURING.xlsx  ·  Instance: 24_Distressed_Restructuring/instances/public_hertz_2021_reorganization.xlsx  ·  Overall checks: REVIEW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