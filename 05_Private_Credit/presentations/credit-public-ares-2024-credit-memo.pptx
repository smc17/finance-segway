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Leverage &amp; coverage headroom (turns)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Leverage headroom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2.87355769230769</c:v>
                </c:pt>
                <c:pt idx="1">
                  <c:v>3.30067954881657</c:v>
                </c:pt>
                <c:pt idx="2">
                  <c:v>3.76456784998009</c:v>
                </c:pt>
                <c:pt idx="3">
                  <c:v>4.25849075421562</c:v>
                </c:pt>
                <c:pt idx="4">
                  <c:v>4.78018044638086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Coverage headroom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1.22142857142857</c:v>
                </c:pt>
                <c:pt idx="1">
                  <c:v>1.57646470859603</c:v>
                </c:pt>
                <c:pt idx="2">
                  <c:v>2.10282154826799</c:v>
                </c:pt>
                <c:pt idx="3">
                  <c:v>2.90234429052448</c:v>
                </c:pt>
                <c:pt idx="4">
                  <c:v>4.22183163119862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4F6F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DSCR headroom (turns)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DSCR headroom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0.84935064935065</c:v>
                </c:pt>
                <c:pt idx="1">
                  <c:v>1.05603220880189</c:v>
                </c:pt>
                <c:pt idx="2">
                  <c:v>1.35534234467065</c:v>
                </c:pt>
                <c:pt idx="3">
                  <c:v>1.79590570570394</c:v>
                </c:pt>
                <c:pt idx="4">
                  <c:v>2.48901475166333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4F6F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Ares Capital Corporation — Portfolio Credit Memo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Real FY2024 portfolio composition and exposure, illustrative structuring, covenant, and recovery terms. Not Ares Capital's own underwriting or covenant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As of 2024-12-31  ·  Source: Ares Capital 2024 Form 10-K  ·  Prepared from a governed, recalculated model instance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Reading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733"/>
                </a:solidFill>
                <a:latin typeface="Calibri"/>
              </a:rPr>
              <a:t>Real, sourced: the five largest borrower/segment exposures (C5, C6, C7, C8, C9) are Ares Capital's own disclosed FY2024 portfolio fair values, from Ares Capital 2024 Form 10-K.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733"/>
                </a:solidFill>
                <a:latin typeface="Calibri"/>
              </a:rPr>
              <a:t>Illustrative: per-borrower leverage multiples, covenant thresholds, yield/spread terms, and the recovery bridge are template defaults chosen for this exercise, not Ares Capital's actual underwriting, pricing, or covenant package on any of these positions.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733"/>
                </a:solidFill>
                <a:latin typeface="Calibri"/>
              </a:rPr>
              <a:t>Every figure past this slide is either read directly from the recalculated workbook or explicitly labeled illustrative — nothing on this deck is invented independent of that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Model checks: Overall PASS  ·  standards/public_cases/credit-public-ares-2024.json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REAL, SEC-SOURCED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Portfolio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$26,720mm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Total portfolio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B7A43"/>
                </a:solidFill>
                <a:latin typeface="Calibri"/>
              </a:rPr>
              <a:t>Ares Capital 2024 Form 10-K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35.0%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Top-1 borrower concentration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B7A43"/>
                </a:solidFill>
                <a:latin typeface="Calibri"/>
              </a:rPr>
              <a:t>Ares Capital 2024 Form 10-K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3.79x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Weighted portfolio leverage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Illustrative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291840"/>
          <a:ext cx="1109441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1360"/>
                <a:gridCol w="2641527"/>
                <a:gridCol w="2641527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Borrower / segment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Exposure ($mm)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Leverage (illustrative)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Borrower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9,352.0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4.0x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Borrower B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6,680.0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4.5x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Borrower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5,344.0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3.5x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Borrower D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3,206.4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3.0x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Borrower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2,137.6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2.5x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Source: Ares Capital 2024 Form 10-K — https://www.sec.gov/Archives/edgar/data/1287750/000128775025000012/arcc-20241231.htm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COMPUTED, ILLUSTRATIVE COVENANT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Covenant headroom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3.13x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Gross leverage (Year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Illustrative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6.00x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Maximum leverage covenant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Illustrative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7A43"/>
                </a:solidFill>
                <a:latin typeface="Cambria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Year 1 covenant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Computed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48640" y="3017520"/>
          <a:ext cx="54864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0" y="3017520"/>
          <a:ext cx="548640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ILLUSTRATIVE STRUCTURING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Lender yield &amp; spread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10.0%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Cash coupon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2374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Illustrative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46304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62763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550 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1284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Cash spread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2374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Illustrative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46304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62763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10.4%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21284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Approx. all-in yield to maturity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52374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Computed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2733"/>
                </a:solidFill>
                <a:latin typeface="Calibri"/>
              </a:rPr>
              <a:t>Illustrative 7-year term priced at a 550bps cash spread with no PIK component and a modest OID -- a template default direct-lending structure, not Ares Capital's actual pricing on any position in this portfolio.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8076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5A00"/>
                </a:solidFill>
                <a:latin typeface="Calibri"/>
              </a:rPr>
              <a:t>Yield, spread, and OID terms are template defaults applied to real portfolio exposure figures -- not Ares Capital's disclosed pricing on these or any other positions.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ILLUSTRATIVE STRESS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Recovery &amp; loss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499"/>
                <a:gridCol w="2521457"/>
                <a:gridCol w="2521457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Bridge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Downside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Recovery multiple (x EBITDA)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5.0x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4.0x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Net distributable value ($mm)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486.7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300.5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Debt claim ($mm)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148.4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148.4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Recovery rate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Loss given default (LGD)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08076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5A00"/>
                </a:solidFill>
                <a:latin typeface="Calibri"/>
              </a:rPr>
              <a:t>Recovery multiple, EV haircut, and resulting recovery/LGD are illustrative stress-case mechanics on the template's debt claim -- not a real workout outcome or Ares Capital's own loss experience on any position.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Portfolio credit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7A43"/>
                </a:solidFill>
                <a:latin typeface="Calibri"/>
              </a:rPr>
              <a:t>Real FY2024 exposure of $26,720mm across the five largest positions carries 35.0% top-1 concentration against a 40.0% internal limit, under the template's illustrative structuring and covenant package.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Weighted portfolio leverage of 3.79x (illustrative, per-borrower) against a 6.00x covenant ceiling leaves headroom that widens every projected year as the illustrative amortization schedule delevers.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Concentration, not leverage, is the binding real-data risk signal here: the top borrower's real disclosed exposure alone is close to the internal concentration limit.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A real credit decision would need each borrower's actual covenant package and current financial performance — neither is asserted here; both are illustrative template levers.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Model: 05_Private_Credit/_template_CREDIT.xlsx  ·  Instance: 05_Private_Credit/instances/public_ares_2024.xlsx  ·  Declared maturity: M2  ·  Overall checks: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